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68" r:id="rId3"/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3921" y="1122363"/>
            <a:ext cx="9143524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3921" y="3602038"/>
            <a:ext cx="9143524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07" y="1709738"/>
            <a:ext cx="10515052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07" y="4589463"/>
            <a:ext cx="10515052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68" y="1600200"/>
            <a:ext cx="537639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405" y="1600200"/>
            <a:ext cx="537639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44" y="365125"/>
            <a:ext cx="10515052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44" y="1681163"/>
            <a:ext cx="515751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44" y="2505075"/>
            <a:ext cx="515751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1879" y="1681163"/>
            <a:ext cx="518291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1879" y="2505075"/>
            <a:ext cx="518291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44" y="457200"/>
            <a:ext cx="3932033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2918" y="987425"/>
            <a:ext cx="6171879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44" y="2057400"/>
            <a:ext cx="3932033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44" y="457200"/>
            <a:ext cx="3932033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2918" y="987425"/>
            <a:ext cx="6171879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44" y="2057400"/>
            <a:ext cx="3932033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740" y="274638"/>
            <a:ext cx="2743057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68" y="274638"/>
            <a:ext cx="807015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568" y="274638"/>
            <a:ext cx="10972229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568" y="1600200"/>
            <a:ext cx="10972229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568" y="6245225"/>
            <a:ext cx="2844652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383" y="6245225"/>
            <a:ext cx="3860599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145" y="6245225"/>
            <a:ext cx="2844652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914400" y="551815"/>
            <a:ext cx="10156190" cy="13779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spcAft>
                <a:spcPts val="1000"/>
              </a:spcAft>
              <a:defRPr sz="4600" b="1">
                <a:solidFill>
                  <a:srgbClr val="00F5D4"/>
                </a:solidFill>
                <a:latin typeface="Arial" panose="020B0604020202020204"/>
              </a:defRPr>
            </a:pPr>
            <a:r>
              <a:t>MorphMind AI – Maze</a:t>
            </a:r>
            <a:r>
              <a:rPr lang="en-GB"/>
              <a:t>  </a:t>
            </a:r>
            <a:r>
              <a:t>Escape</a:t>
            </a:r>
          </a:p>
          <a:p>
            <a:pPr algn="ctr">
              <a:defRPr sz="2400">
                <a:solidFill>
                  <a:srgbClr val="5B8CFF"/>
                </a:solidFill>
                <a:latin typeface="Arial" panose="020B0604020202020204"/>
              </a:defRPr>
            </a:pPr>
            <a:r>
              <a:t>An AI &amp; Machine Learning Based Maze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24280" y="2233930"/>
            <a:ext cx="6090920" cy="27279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SUBMITTED BY:</a:t>
            </a:r>
            <a:endParaRPr lang="en-GB" sz="2400" b="1"/>
          </a:p>
          <a:p>
            <a:pPr algn="ctr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SIBTAIN SAFDAR</a:t>
            </a:r>
            <a:endParaRPr lang="en-GB" sz="2400" b="1"/>
          </a:p>
          <a:p>
            <a:pPr algn="ctr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MUHAMMAD AOUN</a:t>
            </a:r>
            <a:endParaRPr lang="en-GB" sz="2400" b="1"/>
          </a:p>
          <a:p>
            <a:pPr algn="ctr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SARFRAZ HAIDERI</a:t>
            </a:r>
            <a:endParaRPr lang="en-GB" sz="2400" b="1"/>
          </a:p>
          <a:p>
            <a:pPr algn="l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SUBMITTED TO:</a:t>
            </a:r>
            <a:endParaRPr lang="en-GB" sz="2400" b="1"/>
          </a:p>
          <a:p>
            <a:pPr algn="ctr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SIR FAISAL SAHB</a:t>
            </a:r>
            <a:endParaRPr lang="en-GB" sz="2400" b="1"/>
          </a:p>
          <a:p>
            <a:pPr algn="ctr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endParaRPr lang="en-GB" sz="2400" b="1"/>
          </a:p>
          <a:p>
            <a:pPr algn="ctr"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 lang="en-GB" sz="2400" b="1"/>
              <a:t>                              UNIVERSTY OF LAYYAH.</a:t>
            </a:r>
            <a:endParaRPr lang="en-GB" sz="2400" b="1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914400" y="1645920"/>
            <a:ext cx="10156190" cy="12966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4600" b="1">
                <a:solidFill>
                  <a:srgbClr val="00F5D4"/>
                </a:solidFill>
                <a:latin typeface="Arial" panose="020B0604020202020204"/>
              </a:defRPr>
            </a:pPr>
            <a:r>
              <a:t>MorphMind AI – Maze</a:t>
            </a:r>
            <a:r>
              <a:rPr lang="en-GB"/>
              <a:t>  </a:t>
            </a:r>
            <a:r>
              <a:t>Escape</a:t>
            </a:r>
          </a:p>
          <a:p>
            <a:pPr algn="ctr">
              <a:defRPr sz="2400">
                <a:solidFill>
                  <a:srgbClr val="5B8CFF"/>
                </a:solidFill>
                <a:latin typeface="Arial" panose="020B0604020202020204"/>
              </a:defRPr>
            </a:pPr>
            <a:r>
              <a:t>An AI &amp; Machine Learning Based Maze Game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931920"/>
            <a:ext cx="6400800" cy="1620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Maze-based survival and escape gameplay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rPr>
                <a:sym typeface="+mn-ea"/>
              </a:rPr>
              <a:t>· Developed using Python and Pygame</a:t>
            </a:r>
            <a:endParaRPr>
              <a:sym typeface="+mn-ea"/>
            </a:endParaRP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This project focuses on combining game development with AI and ML techniques.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FFFFFF"/>
                </a:solidFill>
                <a:latin typeface="Arial" panose="020B0604020202020204"/>
              </a:defRPr>
            </a:pPr>
            <a:r>
              <a:t>MorphMind AI – Maze Escape is a 2D maze game where the player must escape a maze by collecting keys and avoiding enemies.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743200"/>
            <a:ext cx="6400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Built using Python (Pygame)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Contains smart AI-controlled enemies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Includes multiple levels with increasing difficulty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Real-time decision-making system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The main focus is intelligent gameplay instead of simple enemy movement.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0" y="1645920"/>
            <a:ext cx="3657600" cy="411480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5D4"/>
                </a:solidFill>
              </a:defRPr>
            </a:pPr>
            <a:r>
              <a:t>INTELLIGENT</a:t>
            </a:r>
            <a:br/>
            <a:r>
              <a:t>GAMEPLAY ENGINE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74675" y="74295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Game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7050" y="2296795"/>
            <a:ext cx="6400800" cy="266382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10000"/>
              </a:lnSpc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Explore the maze environment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Collect required keys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Avoid enemy attacks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Unlock the exit portal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Complete all levels successfully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The player must survive and use strategy to win.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011680"/>
            <a:ext cx="1737360" cy="173736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</a:defRPr>
            </a:pPr>
            <a:r>
              <a:t>EXPLORE</a:t>
            </a:r>
          </a:p>
        </p:txBody>
      </p:sp>
      <p:sp>
        <p:nvSpPr>
          <p:cNvPr id="6" name="Rectangle 5"/>
          <p:cNvSpPr/>
          <p:nvPr/>
        </p:nvSpPr>
        <p:spPr>
          <a:xfrm>
            <a:off x="9692640" y="2011680"/>
            <a:ext cx="1737360" cy="173736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0" y="265176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</a:defRPr>
            </a:pPr>
            <a:r>
              <a:t>COLLECT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931920"/>
            <a:ext cx="1737360" cy="173736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0" y="4572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</a:defRPr>
            </a:pPr>
            <a:r>
              <a:t>AVOID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92640" y="3931920"/>
            <a:ext cx="1737360" cy="173736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45720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F5D4"/>
                </a:solidFill>
              </a:defRPr>
            </a:pPr>
            <a:r>
              <a:t>UNLOCK</a:t>
            </a:r>
          </a:p>
        </p:txBody>
      </p:sp>
      <p:sp>
        <p:nvSpPr>
          <p:cNvPr id="12" name="Text Box 11"/>
          <p:cNvSpPr txBox="1"/>
          <p:nvPr/>
        </p:nvSpPr>
        <p:spPr>
          <a:xfrm>
            <a:off x="542925" y="1675765"/>
            <a:ext cx="46050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GB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Following are main objectives of game </a:t>
            </a:r>
            <a:endParaRPr lang="en-GB" altLang="en-US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7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Game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6400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24×15 tile structured maze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Smooth 60 FPS gameplay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Player health system (HP)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Power-ups (Speed, Shield, Health)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Score tracking system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These features make the game more interactive and challenging.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828800"/>
            <a:ext cx="3657600" cy="100584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9659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6D6D6"/>
                </a:solidFill>
              </a:defRPr>
            </a:pPr>
            <a:r>
              <a:t>Core Layout</a:t>
            </a:r>
          </a:p>
          <a:p>
            <a:pPr>
              <a:defRPr sz="2000" b="1">
                <a:solidFill>
                  <a:srgbClr val="5B8CFF"/>
                </a:solidFill>
              </a:defRPr>
            </a:pPr>
            <a:r>
              <a:t>24x15 Grid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3200400"/>
            <a:ext cx="3657600" cy="100584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33375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6D6D6"/>
                </a:solidFill>
              </a:defRPr>
            </a:pPr>
            <a:r>
              <a:t>Performance</a:t>
            </a:r>
          </a:p>
          <a:p>
            <a:pPr>
              <a:defRPr sz="2000" b="1">
                <a:solidFill>
                  <a:srgbClr val="5B8CFF"/>
                </a:solidFill>
              </a:defRPr>
            </a:pPr>
            <a:r>
              <a:t>60 FPS Smooth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572000"/>
            <a:ext cx="3657600" cy="100584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7091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D6D6D6"/>
                </a:solidFill>
              </a:defRPr>
            </a:pPr>
            <a:r>
              <a:t>Mechanics</a:t>
            </a:r>
          </a:p>
          <a:p>
            <a:pPr>
              <a:defRPr sz="2000" b="1">
                <a:solidFill>
                  <a:srgbClr val="5B8CFF"/>
                </a:solidFill>
              </a:defRPr>
            </a:pPr>
            <a:r>
              <a:t>Power-ups &amp; HP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477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Enemy AI 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64008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Finite State Machine (FSM)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A* Pathfinding algorithm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Line of Sight (LOS) detection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Machine Learning prediction models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This makes enemies intelligent and reactive instead of predictable.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2926080"/>
            <a:ext cx="914400" cy="9144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F1F"/>
                </a:solidFill>
              </a:defRPr>
            </a:pPr>
            <a:r>
              <a:t>FSM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458199" y="3246120"/>
            <a:ext cx="109728" cy="182880"/>
          </a:xfrm>
          <a:prstGeom prst="rightArrow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595359" y="2926080"/>
            <a:ext cx="914400" cy="9144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59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F1F"/>
                </a:solidFill>
              </a:defRPr>
            </a:pPr>
            <a:r>
              <a:t>A*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555479" y="3246120"/>
            <a:ext cx="109728" cy="182880"/>
          </a:xfrm>
          <a:prstGeom prst="rightArrow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692640" y="2926080"/>
            <a:ext cx="914400" cy="9144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0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F1F"/>
                </a:solidFill>
              </a:defRPr>
            </a:pPr>
            <a:r>
              <a:t>LOS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652760" y="3246120"/>
            <a:ext cx="109728" cy="182880"/>
          </a:xfrm>
          <a:prstGeom prst="rightArrow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89919" y="2926080"/>
            <a:ext cx="914400" cy="91440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19" y="31546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A0F1F"/>
                </a:solidFill>
              </a:defRPr>
            </a:pPr>
            <a:r>
              <a:t>ML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79425" y="61595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Finite State Machine (FSM)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1800" y="2233295"/>
            <a:ext cx="68580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🔄 Patrol → Enemy moves randomly when no player is detected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🎯 Chase → Enemy directly follows the player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🔮 Predict → Enemy predicts future player movement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🔎 Detect → Enemy searches last known player position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FSM acts like the enemy’s “decision-making brain”.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0" y="1645920"/>
            <a:ext cx="2926080" cy="7315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17830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PATROL</a:t>
            </a:r>
          </a:p>
        </p:txBody>
      </p:sp>
      <p:sp>
        <p:nvSpPr>
          <p:cNvPr id="6" name="Down Arrow 5"/>
          <p:cNvSpPr/>
          <p:nvPr/>
        </p:nvSpPr>
        <p:spPr>
          <a:xfrm>
            <a:off x="9601200" y="2423160"/>
            <a:ext cx="182880" cy="365760"/>
          </a:xfrm>
          <a:prstGeom prst="down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0" y="2834640"/>
            <a:ext cx="2926080" cy="7315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2971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CHASE</a:t>
            </a:r>
          </a:p>
        </p:txBody>
      </p:sp>
      <p:sp>
        <p:nvSpPr>
          <p:cNvPr id="9" name="Down Arrow 8"/>
          <p:cNvSpPr/>
          <p:nvPr/>
        </p:nvSpPr>
        <p:spPr>
          <a:xfrm>
            <a:off x="9601200" y="3611880"/>
            <a:ext cx="182880" cy="365760"/>
          </a:xfrm>
          <a:prstGeom prst="down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0" y="4023360"/>
            <a:ext cx="2926080" cy="7315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41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PREDICT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9601200" y="4800600"/>
            <a:ext cx="182880" cy="365760"/>
          </a:xfrm>
          <a:prstGeom prst="down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5212080"/>
            <a:ext cx="2926080" cy="7315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53492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DETECT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548005" y="1569085"/>
            <a:ext cx="61893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FSM </a:t>
            </a:r>
            <a:r>
              <a: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handle the 4 states of enemy </a:t>
            </a:r>
            <a:r>
              <a: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Enemy </a:t>
            </a:r>
            <a:r>
              <a:rPr lang="en-GB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:</a:t>
            </a:r>
            <a:endParaRPr lang="en-GB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newsflash/>
      </p:transition>
    </mc:Choice>
    <mc:Fallback>
      <p:transition spd="med">
        <p:newsflash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Rectangle 3"/>
          <p:cNvSpPr/>
          <p:nvPr/>
        </p:nvSpPr>
        <p:spPr>
          <a:xfrm>
            <a:off x="6905625" y="1320165"/>
            <a:ext cx="5207000" cy="43891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</a:p>
        </p:txBody>
      </p:sp>
      <p:sp>
        <p:nvSpPr>
          <p:cNvPr id="2" name="TextBox 1"/>
          <p:cNvSpPr txBox="1"/>
          <p:nvPr/>
        </p:nvSpPr>
        <p:spPr>
          <a:xfrm>
            <a:off x="685800" y="64008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Detection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59436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Player must be in Line of Sight (no walls blocking)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Player must be within a specific distance range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Detection Range: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Easy: 115 px (~3 tiles)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Normal: 165 px (~4.3 tiles)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Hard / Insane: 215 px (~5.7 tiles)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This ensures fair and realistic detection behavior.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5820" y="238125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Easy</a:t>
            </a:r>
          </a:p>
        </p:txBody>
      </p:sp>
      <p:sp>
        <p:nvSpPr>
          <p:cNvPr id="5" name="Rectangle 4"/>
          <p:cNvSpPr/>
          <p:nvPr/>
        </p:nvSpPr>
        <p:spPr>
          <a:xfrm>
            <a:off x="8107045" y="2426970"/>
            <a:ext cx="1711841" cy="274320"/>
          </a:xfrm>
          <a:prstGeom prst="rect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42076" y="2413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6D6D6"/>
                </a:solidFill>
              </a:defRPr>
            </a:pPr>
            <a:r>
              <a:t>115 px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Normal</a:t>
            </a:r>
          </a:p>
        </p:txBody>
      </p:sp>
      <p:sp>
        <p:nvSpPr>
          <p:cNvPr id="8" name="Rectangle 7"/>
          <p:cNvSpPr/>
          <p:nvPr/>
        </p:nvSpPr>
        <p:spPr>
          <a:xfrm>
            <a:off x="8154670" y="3611880"/>
            <a:ext cx="2456120" cy="274320"/>
          </a:xfrm>
          <a:prstGeom prst="rect">
            <a:avLst/>
          </a:prstGeom>
          <a:solidFill>
            <a:srgbClr val="5B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1605" y="3582035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6D6D6"/>
                </a:solidFill>
              </a:defRPr>
            </a:pPr>
            <a:r>
              <a:t>165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2945" y="4846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Hard / Insane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97545" y="4892040"/>
            <a:ext cx="3200400" cy="274320"/>
          </a:xfrm>
          <a:prstGeom prst="rect">
            <a:avLst/>
          </a:prstGeom>
          <a:solidFill>
            <a:srgbClr val="FF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541760" y="48463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D6D6D6"/>
                </a:solidFill>
              </a:defRPr>
            </a:pPr>
            <a:r>
              <a:t>215 px</a:t>
            </a:r>
          </a:p>
        </p:txBody>
      </p:sp>
      <p:sp>
        <p:nvSpPr>
          <p:cNvPr id="15" name="Text Box 14"/>
          <p:cNvSpPr txBox="1"/>
          <p:nvPr/>
        </p:nvSpPr>
        <p:spPr>
          <a:xfrm>
            <a:off x="7036435" y="1416685"/>
            <a:ext cx="442531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rPr lang="en-GB" altLang="en-US" sz="2000">
                <a:sym typeface="+mn-ea"/>
              </a:rPr>
              <a:t>Enemy detection by level wise</a:t>
            </a:r>
            <a:r>
              <a:rPr lang="en-GB" altLang="en-US">
                <a:sym typeface="+mn-ea"/>
              </a:rPr>
              <a:t> </a:t>
            </a:r>
            <a:endParaRPr lang="en-GB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CHASE Mode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6400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Enemy follows the player’s current position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Uses A* pathfinding for maze navigation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If the player is very close (≤ 57 px), enemy moves directly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Simple explanation:</a:t>
            </a:r>
            <a:br/>
            <a:r>
              <a:t>“Enemy follows where the player is right now.”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2286000"/>
            <a:ext cx="3657600" cy="274320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0" y="3200400"/>
            <a:ext cx="3657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F5D4"/>
                </a:solidFill>
              </a:defRPr>
            </a:pPr>
            <a:r>
              <a:t>A* NAVIGATION</a:t>
            </a:r>
          </a:p>
          <a:p>
            <a:pPr algn="ctr">
              <a:defRPr sz="1400">
                <a:solidFill>
                  <a:srgbClr val="D6D6D6"/>
                </a:solidFill>
              </a:defRPr>
            </a:pPr>
            <a:r>
              <a:t>REAL-TIME TRACKING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Machine Learning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828800"/>
            <a:ext cx="640080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Learns player movement patterns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Predicts next possible moves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Calculates confidence level for prediction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Activates only when enough data is available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This allows enemies to act intelligently instead of blindly chasing.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3017520"/>
            <a:ext cx="1188720" cy="11887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79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DATA</a:t>
            </a:r>
          </a:p>
        </p:txBody>
      </p:sp>
      <p:sp>
        <p:nvSpPr>
          <p:cNvPr id="6" name="Right Arrow 5"/>
          <p:cNvSpPr/>
          <p:nvPr/>
        </p:nvSpPr>
        <p:spPr>
          <a:xfrm>
            <a:off x="8732519" y="3520440"/>
            <a:ext cx="182880" cy="182880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961119" y="3017520"/>
            <a:ext cx="1188720" cy="11887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19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LEARN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10195559" y="3520440"/>
            <a:ext cx="182880" cy="182880"/>
          </a:xfrm>
          <a:prstGeom prst="rightArrow">
            <a:avLst/>
          </a:prstGeom>
          <a:solidFill>
            <a:srgbClr val="00F5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424159" y="3017520"/>
            <a:ext cx="1188720" cy="11887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424159" y="338328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B8CFF"/>
                </a:solidFill>
              </a:defRPr>
            </a:pPr>
            <a:r>
              <a:t>PREDICT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Markov Chain &amp; Logistic Regression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6400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Markov Chain: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Uses previous movements to guess the next move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Example: Right → Right → Up → Right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Logistic Regression: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Calculates probability of each possible move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Selects the most likely direction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Together they improve prediction accuracy.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2011680"/>
            <a:ext cx="4023360" cy="16459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0" y="219456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F5D4"/>
                </a:solidFill>
              </a:defRPr>
            </a:pPr>
            <a:r>
              <a:t>Markov Chain State Matrix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P(Xt+1 | Xt, Xt-1, ...)</a:t>
            </a:r>
          </a:p>
        </p:txBody>
      </p:sp>
      <p:sp>
        <p:nvSpPr>
          <p:cNvPr id="6" name="Rectangle 5"/>
          <p:cNvSpPr/>
          <p:nvPr/>
        </p:nvSpPr>
        <p:spPr>
          <a:xfrm>
            <a:off x="7498079" y="4023360"/>
            <a:ext cx="4023360" cy="164592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4206240"/>
            <a:ext cx="3840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B8CFF"/>
                </a:solidFill>
              </a:defRPr>
            </a:pPr>
            <a:r>
              <a:t>Logistic Regression Function</a:t>
            </a:r>
          </a:p>
          <a:p>
            <a:pPr>
              <a:defRPr sz="1600">
                <a:solidFill>
                  <a:srgbClr val="FFFFFF"/>
                </a:solidFill>
              </a:defRPr>
            </a:pPr>
            <a:r>
              <a:t>Probability Curve Selection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00F5D4"/>
                </a:solidFill>
                <a:latin typeface="Arial" panose="020B0604020202020204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45920"/>
            <a:ext cx="640080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MorphMind AI – Maze Escape combines multiple AI techniques: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FSM for decision making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A* for pathfinding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LOS for visibility control</a:t>
            </a:r>
          </a:p>
          <a:p>
            <a:pPr>
              <a:spcAft>
                <a:spcPts val="1200"/>
              </a:spcAft>
              <a:defRPr sz="1800">
                <a:solidFill>
                  <a:srgbClr val="D6D6D6"/>
                </a:solidFill>
                <a:latin typeface="Arial" panose="020B0604020202020204"/>
              </a:defRPr>
            </a:pPr>
            <a:r>
              <a:t>· ML for prediction</a:t>
            </a:r>
          </a:p>
          <a:p>
            <a:pPr>
              <a:spcBef>
                <a:spcPts val="1600"/>
              </a:spcBef>
              <a:defRPr sz="1800" i="1">
                <a:solidFill>
                  <a:srgbClr val="5B8CFF"/>
                </a:solidFill>
                <a:latin typeface="Arial" panose="020B0604020202020204"/>
              </a:defRPr>
            </a:pPr>
            <a:r>
              <a:t>💡 Final Result: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0" y="1645920"/>
            <a:ext cx="3657600" cy="91440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63840" y="173736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FSM</a:t>
            </a:r>
          </a:p>
          <a:p>
            <a:pPr>
              <a:defRPr sz="1300">
                <a:solidFill>
                  <a:srgbClr val="D6D6D6"/>
                </a:solidFill>
              </a:defRPr>
            </a:pPr>
            <a:r>
              <a:t>State Control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834640"/>
            <a:ext cx="3657600" cy="91440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0" y="292608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A*</a:t>
            </a:r>
          </a:p>
          <a:p>
            <a:pPr>
              <a:defRPr sz="1300">
                <a:solidFill>
                  <a:srgbClr val="D6D6D6"/>
                </a:solidFill>
              </a:defRPr>
            </a:pPr>
            <a:r>
              <a:t>Optimal Pathfinding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4023360"/>
            <a:ext cx="3657600" cy="91440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41148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LOS</a:t>
            </a:r>
          </a:p>
          <a:p>
            <a:pPr>
              <a:defRPr sz="1300">
                <a:solidFill>
                  <a:srgbClr val="D6D6D6"/>
                </a:solidFill>
              </a:defRPr>
            </a:pPr>
            <a:r>
              <a:t>Dynamic Visibility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0" y="5212080"/>
            <a:ext cx="3657600" cy="914400"/>
          </a:xfrm>
          <a:prstGeom prst="rect">
            <a:avLst/>
          </a:prstGeom>
          <a:solidFill>
            <a:srgbClr val="18243D"/>
          </a:solidFill>
          <a:ln w="19050">
            <a:solidFill>
              <a:srgbClr val="5B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530352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F5D4"/>
                </a:solidFill>
              </a:defRPr>
            </a:pPr>
            <a:r>
              <a:t>ML</a:t>
            </a:r>
          </a:p>
          <a:p>
            <a:pPr>
              <a:defRPr sz="1300">
                <a:solidFill>
                  <a:srgbClr val="D6D6D6"/>
                </a:solidFill>
              </a:defRPr>
            </a:pPr>
            <a:r>
              <a:t>Predictive Intel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theme/theme1.xml><?xml version="1.0" encoding="utf-8"?>
<a:theme xmlns:a="http://schemas.openxmlformats.org/drawingml/2006/main" name="1_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3447</Words>
  <Application>WPS Presentation</Application>
  <PresentationFormat>On-screen Show (4:3)</PresentationFormat>
  <Paragraphs>187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Arial</vt:lpstr>
      <vt:lpstr>SimSun</vt:lpstr>
      <vt:lpstr>Wingdings</vt:lpstr>
      <vt:lpstr>Arial</vt:lpstr>
      <vt:lpstr>Microsoft YaHei</vt:lpstr>
      <vt:lpstr>Arial Unicode MS</vt:lpstr>
      <vt:lpstr>Calibri</vt:lpstr>
      <vt:lpstr>1_Default Design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HASSAN COMPUTERS</cp:lastModifiedBy>
  <cp:revision>5</cp:revision>
  <dcterms:created xsi:type="dcterms:W3CDTF">2013-01-27T09:14:00Z</dcterms:created>
  <dcterms:modified xsi:type="dcterms:W3CDTF">2026-06-03T08:49:09Z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4785465519A443169828D510793D362B_12</vt:lpwstr>
  </property>
  <property fmtid="{D5CDD505-2E9C-101B-9397-08002B2CF9AE}" pid="3" name="KSOProductBuildVer">
    <vt:lpwstr>2057-12.9.0.21549</vt:lpwstr>
  </property>
</Properties>
</file>